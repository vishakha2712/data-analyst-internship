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46"/>
  </p:normalViewPr>
  <p:slideViewPr>
    <p:cSldViewPr snapToGrid="0">
      <p:cViewPr varScale="1">
        <p:scale>
          <a:sx n="91" d="100"/>
          <a:sy n="91" d="100"/>
        </p:scale>
        <p:origin x="19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558AF-5AE7-7341-8434-383F9CA636D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42B3C-857C-8A45-B526-7E15EBEFB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1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42B3C-857C-8A45-B526-7E15EBEFB4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9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B8C8D-3D3D-3378-471E-1C3B62BAA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6DC74-504D-258E-635B-D2284A278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1B3AD-D2E0-F1DF-5775-579735297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CF0D-9D62-574F-A6D9-6591927C8D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63F47-DEDB-2906-37C8-724C95E4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68CFF-5CC7-6DBA-B56C-76D91C24A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EE69D-D9EB-754B-B440-8D956588A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03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5CE22-18FB-C32C-2AB5-5624BCADA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A62D0-B0DD-3360-DCF4-286DC65AD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CA275-B18D-7B79-69CA-1F04DAEC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CF0D-9D62-574F-A6D9-6591927C8D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E3CD2-0CF6-341C-9193-5E3D99047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4E0A3-BCE8-9EC1-3C77-2F6716E9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EE69D-D9EB-754B-B440-8D956588A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66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CCD76-1AF2-AACF-97B1-C887538B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C2EB5-2461-28AB-8BE1-231142913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C31DC-DFC7-5D77-A466-A11A663FA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CF0D-9D62-574F-A6D9-6591927C8D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BFA44-31FD-2B72-E8A4-A60F2CBC1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AC034-5B87-DC4A-35BF-0EFED8748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EE69D-D9EB-754B-B440-8D956588A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2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4F27-735B-523D-DCCB-562A2378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6280B-F6D9-9B81-72E4-AAFCAFDA3C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2DB5D-A863-0D33-3774-CDEB4F25A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EB23B-EEC6-B082-5993-4951DD397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CF0D-9D62-574F-A6D9-6591927C8D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C3E36-2C66-EBF7-41C8-24A7F3D1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4DDC4-6765-BC0D-410F-3BB4AD555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EE69D-D9EB-754B-B440-8D956588A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87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9653F-40E1-0645-7A13-6AC272CA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9507A-E945-6E89-1632-1410D25FF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E31CC-4E49-1553-9E41-79C5AC927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0D6D4F-7BDD-9510-DDB3-7F50F3715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B8A262-3361-1CCC-A888-0157F4EAB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ED4BB-B609-38DB-9750-E7F314D70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CF0D-9D62-574F-A6D9-6591927C8D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A615D2-1492-185E-CE7D-5A9413A5C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E33E8-1759-4830-CD4A-471B8226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EE69D-D9EB-754B-B440-8D956588A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3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D002-9FE3-AFD2-7936-61A18C06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0E57DD-60D7-6DBB-7B2C-810011D5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CF0D-9D62-574F-A6D9-6591927C8D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40A0C4-C865-8C51-DE2F-460514593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E327A-E0CC-7439-018B-0E3D36D7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EE69D-D9EB-754B-B440-8D956588A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74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0D7E90-29A4-B1B8-2AD8-0C5E17184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CF0D-9D62-574F-A6D9-6591927C8D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774CF-3F0B-40BC-570A-05209B34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EC155-0861-D1E8-C809-FB5E30BD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EE69D-D9EB-754B-B440-8D956588A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67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80431-FAE8-371A-B002-20042A5C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CF29D-90EE-6CE6-C7DC-166FE1704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5ACF01-B044-8084-4351-94C27BEAC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51553-9C6E-5BE2-9CA4-58FF2186B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CF0D-9D62-574F-A6D9-6591927C8D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1FFAD-254B-D185-105A-B49F55AC8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1B1F4-556A-2152-B92E-C8E7F613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EE69D-D9EB-754B-B440-8D956588A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272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EE26-4282-2356-8B92-37CD9C2F0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055081-E23F-3D5F-1F59-F35D81EB24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AEDAF-0282-FB52-5129-7CD07F5FC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243FB-A8B3-BBD9-D8F1-B74A09BCB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CF0D-9D62-574F-A6D9-6591927C8D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3525D-E071-A3BF-1015-13A2597E4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4FF85-CA64-321E-A05F-B38FF7754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EE69D-D9EB-754B-B440-8D956588A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5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ACA56-A2E0-68F4-FAE2-C5F719523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FFEEB3-AF4A-90C6-8521-324B2E174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4CC3A-FEDF-E19E-E58F-A8810D0D2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CF0D-9D62-574F-A6D9-6591927C8D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A79B9-A372-0FB0-4FDB-C8CE0DC80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05004-5966-5171-CEBD-95935657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EE69D-D9EB-754B-B440-8D956588A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9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C7976F-8379-5562-A285-9055FDE3E6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436434-831B-2394-008A-35FA9090F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D7C6-CFE7-B83F-B724-CAE1AAAC6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CF0D-9D62-574F-A6D9-6591927C8D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9B256-3F08-B39C-96A3-02A1E3FBB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3134A-7AB4-AAB2-B8D2-AF514A35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EE69D-D9EB-754B-B440-8D956588A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106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A6D980-EF9D-3509-A483-91D5E0A4F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24AAA-2CF5-56E0-FA13-8D9D13F30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F8D47-D708-0781-908D-55329015E7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3DCF0D-9D62-574F-A6D9-6591927C8D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9D209-C97E-83FB-F84E-7390F47A0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97272-9987-3EA7-353F-94251CDDB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6EE69D-D9EB-754B-B440-8D956588A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2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0C3D8E-5324-4346-CA30-617F3EA30495}"/>
              </a:ext>
            </a:extLst>
          </p:cNvPr>
          <p:cNvSpPr txBox="1"/>
          <p:nvPr/>
        </p:nvSpPr>
        <p:spPr>
          <a:xfrm>
            <a:off x="2461846" y="225082"/>
            <a:ext cx="7596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Business Overview – KPI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CF0DFC-555F-D668-5E58-5196191F5DFA}"/>
              </a:ext>
            </a:extLst>
          </p:cNvPr>
          <p:cNvSpPr/>
          <p:nvPr/>
        </p:nvSpPr>
        <p:spPr>
          <a:xfrm>
            <a:off x="2610352" y="1207103"/>
            <a:ext cx="2194552" cy="1839351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[Metric Value]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Last Month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E00B21-84C8-A1E3-6167-727D90873EE3}"/>
              </a:ext>
            </a:extLst>
          </p:cNvPr>
          <p:cNvSpPr/>
          <p:nvPr/>
        </p:nvSpPr>
        <p:spPr>
          <a:xfrm>
            <a:off x="4998466" y="1207103"/>
            <a:ext cx="2194552" cy="1839351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[Metric Value]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Last Month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218181-0D23-A8F9-0725-1CFBE07A330F}"/>
              </a:ext>
            </a:extLst>
          </p:cNvPr>
          <p:cNvSpPr/>
          <p:nvPr/>
        </p:nvSpPr>
        <p:spPr>
          <a:xfrm>
            <a:off x="7386580" y="1207103"/>
            <a:ext cx="2194552" cy="1839351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Revenue Growth %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 Value]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Last Month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8E7750-A8F7-0BA3-569B-12CB34E0A00C}"/>
              </a:ext>
            </a:extLst>
          </p:cNvPr>
          <p:cNvSpPr/>
          <p:nvPr/>
        </p:nvSpPr>
        <p:spPr>
          <a:xfrm>
            <a:off x="3256083" y="3798276"/>
            <a:ext cx="3805310" cy="2588456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Trend 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(Daily / Monthly)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[Line Chart Placeholder]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738D19-9A9F-2908-5D4C-A694241FB67C}"/>
              </a:ext>
            </a:extLst>
          </p:cNvPr>
          <p:cNvSpPr/>
          <p:nvPr/>
        </p:nvSpPr>
        <p:spPr>
          <a:xfrm>
            <a:off x="7568420" y="3798276"/>
            <a:ext cx="3805310" cy="2588456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Growth Trend 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(Daily / Monthly)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[Line Chart Placeholder]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FF89E5-C8A8-9A0A-A381-43BEFCED18B1}"/>
              </a:ext>
            </a:extLst>
          </p:cNvPr>
          <p:cNvSpPr/>
          <p:nvPr/>
        </p:nvSpPr>
        <p:spPr>
          <a:xfrm>
            <a:off x="174677" y="1237956"/>
            <a:ext cx="2194553" cy="5148776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ID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829C22-F345-B566-B570-1FBDAD47A730}"/>
              </a:ext>
            </a:extLst>
          </p:cNvPr>
          <p:cNvSpPr/>
          <p:nvPr/>
        </p:nvSpPr>
        <p:spPr>
          <a:xfrm>
            <a:off x="9774693" y="1207103"/>
            <a:ext cx="2242630" cy="1839351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Customer Growth %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[Metric Value]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Last Month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733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7C3BE0-5E1D-5ADC-E3E9-209ABDFE5B61}"/>
              </a:ext>
            </a:extLst>
          </p:cNvPr>
          <p:cNvSpPr txBox="1"/>
          <p:nvPr/>
        </p:nvSpPr>
        <p:spPr>
          <a:xfrm>
            <a:off x="3938954" y="118258"/>
            <a:ext cx="4951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Mode Performance Analysis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F8AD7D-15F2-AB30-23D9-E33D4EE0ACBF}"/>
              </a:ext>
            </a:extLst>
          </p:cNvPr>
          <p:cNvSpPr/>
          <p:nvPr/>
        </p:nvSpPr>
        <p:spPr>
          <a:xfrm>
            <a:off x="243840" y="717452"/>
            <a:ext cx="11704319" cy="588638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Mode Performance Comparison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01D6A0-33D6-A0B6-AB20-A682CC7DBE81}"/>
              </a:ext>
            </a:extLst>
          </p:cNvPr>
          <p:cNvSpPr/>
          <p:nvPr/>
        </p:nvSpPr>
        <p:spPr>
          <a:xfrm>
            <a:off x="241495" y="1481765"/>
            <a:ext cx="2743200" cy="1838210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Sales Mode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[Metric Value]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528B21-85DE-709E-E4DC-07898B1432F4}"/>
              </a:ext>
            </a:extLst>
          </p:cNvPr>
          <p:cNvSpPr/>
          <p:nvPr/>
        </p:nvSpPr>
        <p:spPr>
          <a:xfrm>
            <a:off x="241495" y="3495650"/>
            <a:ext cx="2743200" cy="1838210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Contribution %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[Metric Value]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9AD130-CC45-C227-554D-0AACB2A909FA}"/>
              </a:ext>
            </a:extLst>
          </p:cNvPr>
          <p:cNvSpPr/>
          <p:nvPr/>
        </p:nvSpPr>
        <p:spPr>
          <a:xfrm>
            <a:off x="9202614" y="1524140"/>
            <a:ext cx="2743199" cy="1759598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Mode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Count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[Donut Chart]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631A04-E57F-A9D1-8DB5-D7AFBA9EC162}"/>
              </a:ext>
            </a:extLst>
          </p:cNvPr>
          <p:cNvSpPr/>
          <p:nvPr/>
        </p:nvSpPr>
        <p:spPr>
          <a:xfrm>
            <a:off x="9202614" y="3495650"/>
            <a:ext cx="2743198" cy="1838210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Mode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Contribution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[Donut Chart]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02268E-20A5-B56C-51A1-87B1E1868AEA}"/>
              </a:ext>
            </a:extLst>
          </p:cNvPr>
          <p:cNvSpPr/>
          <p:nvPr/>
        </p:nvSpPr>
        <p:spPr>
          <a:xfrm>
            <a:off x="3547401" y="1615648"/>
            <a:ext cx="5148776" cy="333618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Online mode drives highest revenue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Agent channel shows stable growth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Offline contributes lower revenue share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958D9C-92B5-C50B-6E20-3BFFF80C805C}"/>
              </a:ext>
            </a:extLst>
          </p:cNvPr>
          <p:cNvSpPr/>
          <p:nvPr/>
        </p:nvSpPr>
        <p:spPr>
          <a:xfrm>
            <a:off x="241493" y="5488347"/>
            <a:ext cx="11704319" cy="1219651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(Customer Count &amp; Revenue)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[Line Chart Placeholder]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148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D94310-DA03-1937-D507-DCA393129A61}"/>
              </a:ext>
            </a:extLst>
          </p:cNvPr>
          <p:cNvSpPr txBox="1"/>
          <p:nvPr/>
        </p:nvSpPr>
        <p:spPr>
          <a:xfrm>
            <a:off x="3046828" y="167025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Group Performance Analysis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E7A483-D5AA-8552-C8CD-6D3225A8C1DF}"/>
              </a:ext>
            </a:extLst>
          </p:cNvPr>
          <p:cNvSpPr/>
          <p:nvPr/>
        </p:nvSpPr>
        <p:spPr>
          <a:xfrm>
            <a:off x="677594" y="1097278"/>
            <a:ext cx="2698652" cy="251811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Distribution by Age Group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29E2AF-86E9-686B-A32F-182105385EEC}"/>
              </a:ext>
            </a:extLst>
          </p:cNvPr>
          <p:cNvSpPr/>
          <p:nvPr/>
        </p:nvSpPr>
        <p:spPr>
          <a:xfrm>
            <a:off x="4911383" y="1097277"/>
            <a:ext cx="2698652" cy="251811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Revenue Contribution by Age Group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C1968E9-AB8E-C415-102A-B83AF02D2AEF}"/>
              </a:ext>
            </a:extLst>
          </p:cNvPr>
          <p:cNvSpPr/>
          <p:nvPr/>
        </p:nvSpPr>
        <p:spPr>
          <a:xfrm>
            <a:off x="8815754" y="1097279"/>
            <a:ext cx="2698652" cy="251811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Expected Settlement by Age Group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EAED76-63B4-0FDA-2D30-8C87043D4BA8}"/>
              </a:ext>
            </a:extLst>
          </p:cNvPr>
          <p:cNvSpPr txBox="1"/>
          <p:nvPr/>
        </p:nvSpPr>
        <p:spPr>
          <a:xfrm>
            <a:off x="4356295" y="3910818"/>
            <a:ext cx="4459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 Groups:</a:t>
            </a:r>
          </a:p>
          <a:p>
            <a:r>
              <a:rPr lang="en-US" dirty="0"/>
              <a:t>18–24 | 25–30 | 31–40 | 41–50 | 51–65 | 65+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47F71-4287-01D3-BD8F-A339FC2E4559}"/>
              </a:ext>
            </a:extLst>
          </p:cNvPr>
          <p:cNvSpPr/>
          <p:nvPr/>
        </p:nvSpPr>
        <p:spPr>
          <a:xfrm>
            <a:off x="872197" y="4951828"/>
            <a:ext cx="10642209" cy="133643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 Insight:</a:t>
            </a:r>
          </a:p>
          <a:p>
            <a:pPr algn="ctr"/>
            <a:r>
              <a:rPr lang="en-US" dirty="0"/>
              <a:t>Working-age groups (25–40) show higher contribution across customers, revenue, and settlements.</a:t>
            </a:r>
          </a:p>
        </p:txBody>
      </p:sp>
    </p:spTree>
    <p:extLst>
      <p:ext uri="{BB962C8B-B14F-4D97-AF65-F5344CB8AC3E}">
        <p14:creationId xmlns:p14="http://schemas.microsoft.com/office/powerpoint/2010/main" val="3679503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4393</TotalTime>
  <Words>208</Words>
  <Application>Microsoft Macintosh PowerPoint</Application>
  <PresentationFormat>Widescreen</PresentationFormat>
  <Paragraphs>59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Vishakha Kokate</dc:creator>
  <cp:lastModifiedBy>Vishakha Kokate</cp:lastModifiedBy>
  <cp:revision>1</cp:revision>
  <dcterms:created xsi:type="dcterms:W3CDTF">2026-01-23T18:49:46Z</dcterms:created>
  <dcterms:modified xsi:type="dcterms:W3CDTF">2026-01-26T20:03:19Z</dcterms:modified>
</cp:coreProperties>
</file>